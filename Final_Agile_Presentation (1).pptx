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4" r:id="rId5"/>
    <p:sldId id="259" r:id="rId6"/>
    <p:sldId id="260" r:id="rId7"/>
    <p:sldId id="261" r:id="rId8"/>
    <p:sldId id="262" r:id="rId9"/>
    <p:sldId id="263"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0DE18D-9FAE-4E50-B7FF-AA3D9CC76278}" v="151" dt="2026-04-19T18:03:54.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16F3AD-EBAA-4A95-B87D-BFB34FAED025}"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A32C6902-B5CA-4DB5-9176-408A26384C26}">
      <dgm:prSet/>
      <dgm:spPr/>
      <dgm:t>
        <a:bodyPr/>
        <a:lstStyle/>
        <a:p>
          <a:r>
            <a:rPr lang="en-US"/>
            <a:t>Agile was the best approach for this project</a:t>
          </a:r>
        </a:p>
      </dgm:t>
    </dgm:pt>
    <dgm:pt modelId="{0DF57047-15D6-4A81-BB99-7D5BB68275E8}" type="parTrans" cxnId="{D86B5F5A-0663-4B36-8943-68B2DBF0A2DA}">
      <dgm:prSet/>
      <dgm:spPr/>
      <dgm:t>
        <a:bodyPr/>
        <a:lstStyle/>
        <a:p>
          <a:endParaRPr lang="en-US"/>
        </a:p>
      </dgm:t>
    </dgm:pt>
    <dgm:pt modelId="{83C108E6-32D2-4ADB-979E-DF7664D6DAD2}" type="sibTrans" cxnId="{D86B5F5A-0663-4B36-8943-68B2DBF0A2DA}">
      <dgm:prSet/>
      <dgm:spPr/>
      <dgm:t>
        <a:bodyPr/>
        <a:lstStyle/>
        <a:p>
          <a:endParaRPr lang="en-US"/>
        </a:p>
      </dgm:t>
    </dgm:pt>
    <dgm:pt modelId="{DDF575C7-3FB0-409C-B137-5A67475EF68A}">
      <dgm:prSet/>
      <dgm:spPr/>
      <dgm:t>
        <a:bodyPr/>
        <a:lstStyle/>
        <a:p>
          <a:r>
            <a:rPr lang="en-US"/>
            <a:t>Allowed quick adjustments when requirements changed</a:t>
          </a:r>
        </a:p>
      </dgm:t>
    </dgm:pt>
    <dgm:pt modelId="{99099FAA-3E78-4B27-ADF2-128920F18530}" type="parTrans" cxnId="{AC8C3B5F-AAAE-4167-A24F-FA5C6CE9ADAB}">
      <dgm:prSet/>
      <dgm:spPr/>
      <dgm:t>
        <a:bodyPr/>
        <a:lstStyle/>
        <a:p>
          <a:endParaRPr lang="en-US"/>
        </a:p>
      </dgm:t>
    </dgm:pt>
    <dgm:pt modelId="{BF5EE2E4-1032-45F0-9C2D-A861F7443829}" type="sibTrans" cxnId="{AC8C3B5F-AAAE-4167-A24F-FA5C6CE9ADAB}">
      <dgm:prSet/>
      <dgm:spPr/>
      <dgm:t>
        <a:bodyPr/>
        <a:lstStyle/>
        <a:p>
          <a:endParaRPr lang="en-US"/>
        </a:p>
      </dgm:t>
    </dgm:pt>
    <dgm:pt modelId="{66CB30F4-8462-48B7-91A3-102FEEFBA466}">
      <dgm:prSet/>
      <dgm:spPr/>
      <dgm:t>
        <a:bodyPr/>
        <a:lstStyle/>
        <a:p>
          <a:r>
            <a:rPr lang="en-US"/>
            <a:t>Kept project on schedule</a:t>
          </a:r>
        </a:p>
      </dgm:t>
    </dgm:pt>
    <dgm:pt modelId="{66EECA1C-EF81-4D7C-B1B0-C5B0EF2A26C4}" type="parTrans" cxnId="{DB8D067F-974F-473F-B351-FC28CB7658FB}">
      <dgm:prSet/>
      <dgm:spPr/>
      <dgm:t>
        <a:bodyPr/>
        <a:lstStyle/>
        <a:p>
          <a:endParaRPr lang="en-US"/>
        </a:p>
      </dgm:t>
    </dgm:pt>
    <dgm:pt modelId="{5812D89E-B896-42FB-A255-66272FA312B3}" type="sibTrans" cxnId="{DB8D067F-974F-473F-B351-FC28CB7658FB}">
      <dgm:prSet/>
      <dgm:spPr/>
      <dgm:t>
        <a:bodyPr/>
        <a:lstStyle/>
        <a:p>
          <a:endParaRPr lang="en-US"/>
        </a:p>
      </dgm:t>
    </dgm:pt>
    <dgm:pt modelId="{2F786DEF-6642-4477-A9ED-C7DAF17A9BCA}">
      <dgm:prSet/>
      <dgm:spPr/>
      <dgm:t>
        <a:bodyPr/>
        <a:lstStyle/>
        <a:p>
          <a:r>
            <a:rPr lang="en-US"/>
            <a:t>Waterfall better only for fixed and predictable projects</a:t>
          </a:r>
        </a:p>
      </dgm:t>
    </dgm:pt>
    <dgm:pt modelId="{600B4AA4-EED6-4854-ADB9-1E8C7ED23386}" type="parTrans" cxnId="{404E3889-55DD-4E90-B297-9EB6A9132953}">
      <dgm:prSet/>
      <dgm:spPr/>
      <dgm:t>
        <a:bodyPr/>
        <a:lstStyle/>
        <a:p>
          <a:endParaRPr lang="en-US"/>
        </a:p>
      </dgm:t>
    </dgm:pt>
    <dgm:pt modelId="{833B21DE-297C-4BD5-99B4-319CBF199238}" type="sibTrans" cxnId="{404E3889-55DD-4E90-B297-9EB6A9132953}">
      <dgm:prSet/>
      <dgm:spPr/>
      <dgm:t>
        <a:bodyPr/>
        <a:lstStyle/>
        <a:p>
          <a:endParaRPr lang="en-US"/>
        </a:p>
      </dgm:t>
    </dgm:pt>
    <dgm:pt modelId="{1EAEE4BD-DE21-43AD-B4D2-7ABA2E7BAD24}" type="pres">
      <dgm:prSet presAssocID="{D116F3AD-EBAA-4A95-B87D-BFB34FAED025}" presName="linear" presStyleCnt="0">
        <dgm:presLayoutVars>
          <dgm:animLvl val="lvl"/>
          <dgm:resizeHandles val="exact"/>
        </dgm:presLayoutVars>
      </dgm:prSet>
      <dgm:spPr/>
    </dgm:pt>
    <dgm:pt modelId="{711EF7F9-6499-4FFC-9AD1-874699BCE6A3}" type="pres">
      <dgm:prSet presAssocID="{A32C6902-B5CA-4DB5-9176-408A26384C26}" presName="parentText" presStyleLbl="node1" presStyleIdx="0" presStyleCnt="4">
        <dgm:presLayoutVars>
          <dgm:chMax val="0"/>
          <dgm:bulletEnabled val="1"/>
        </dgm:presLayoutVars>
      </dgm:prSet>
      <dgm:spPr/>
    </dgm:pt>
    <dgm:pt modelId="{1EA35438-F55C-4958-B671-0E9C8AC42CE9}" type="pres">
      <dgm:prSet presAssocID="{83C108E6-32D2-4ADB-979E-DF7664D6DAD2}" presName="spacer" presStyleCnt="0"/>
      <dgm:spPr/>
    </dgm:pt>
    <dgm:pt modelId="{797E91A1-4D04-4E78-8606-F75894E8A29A}" type="pres">
      <dgm:prSet presAssocID="{DDF575C7-3FB0-409C-B137-5A67475EF68A}" presName="parentText" presStyleLbl="node1" presStyleIdx="1" presStyleCnt="4">
        <dgm:presLayoutVars>
          <dgm:chMax val="0"/>
          <dgm:bulletEnabled val="1"/>
        </dgm:presLayoutVars>
      </dgm:prSet>
      <dgm:spPr/>
    </dgm:pt>
    <dgm:pt modelId="{30576CA4-5F71-48C7-9852-B6B55252E4F4}" type="pres">
      <dgm:prSet presAssocID="{BF5EE2E4-1032-45F0-9C2D-A861F7443829}" presName="spacer" presStyleCnt="0"/>
      <dgm:spPr/>
    </dgm:pt>
    <dgm:pt modelId="{8E742C50-9BC1-4778-9451-BB10B8C330BA}" type="pres">
      <dgm:prSet presAssocID="{66CB30F4-8462-48B7-91A3-102FEEFBA466}" presName="parentText" presStyleLbl="node1" presStyleIdx="2" presStyleCnt="4">
        <dgm:presLayoutVars>
          <dgm:chMax val="0"/>
          <dgm:bulletEnabled val="1"/>
        </dgm:presLayoutVars>
      </dgm:prSet>
      <dgm:spPr/>
    </dgm:pt>
    <dgm:pt modelId="{4B0E9530-1009-4F76-B757-5B933F182E4F}" type="pres">
      <dgm:prSet presAssocID="{5812D89E-B896-42FB-A255-66272FA312B3}" presName="spacer" presStyleCnt="0"/>
      <dgm:spPr/>
    </dgm:pt>
    <dgm:pt modelId="{708CB72F-2185-45A7-A161-F071BBC8935A}" type="pres">
      <dgm:prSet presAssocID="{2F786DEF-6642-4477-A9ED-C7DAF17A9BCA}" presName="parentText" presStyleLbl="node1" presStyleIdx="3" presStyleCnt="4">
        <dgm:presLayoutVars>
          <dgm:chMax val="0"/>
          <dgm:bulletEnabled val="1"/>
        </dgm:presLayoutVars>
      </dgm:prSet>
      <dgm:spPr/>
    </dgm:pt>
  </dgm:ptLst>
  <dgm:cxnLst>
    <dgm:cxn modelId="{521BB220-E8A6-4568-8023-CC048B166E56}" type="presOf" srcId="{66CB30F4-8462-48B7-91A3-102FEEFBA466}" destId="{8E742C50-9BC1-4778-9451-BB10B8C330BA}" srcOrd="0" destOrd="0" presId="urn:microsoft.com/office/officeart/2005/8/layout/vList2"/>
    <dgm:cxn modelId="{29D9E529-2A52-4F55-90BC-B1946CC5CAE6}" type="presOf" srcId="{D116F3AD-EBAA-4A95-B87D-BFB34FAED025}" destId="{1EAEE4BD-DE21-43AD-B4D2-7ABA2E7BAD24}" srcOrd="0" destOrd="0" presId="urn:microsoft.com/office/officeart/2005/8/layout/vList2"/>
    <dgm:cxn modelId="{AC8C3B5F-AAAE-4167-A24F-FA5C6CE9ADAB}" srcId="{D116F3AD-EBAA-4A95-B87D-BFB34FAED025}" destId="{DDF575C7-3FB0-409C-B137-5A67475EF68A}" srcOrd="1" destOrd="0" parTransId="{99099FAA-3E78-4B27-ADF2-128920F18530}" sibTransId="{BF5EE2E4-1032-45F0-9C2D-A861F7443829}"/>
    <dgm:cxn modelId="{6516CF56-879D-4177-A9E1-C12B02AA0974}" type="presOf" srcId="{DDF575C7-3FB0-409C-B137-5A67475EF68A}" destId="{797E91A1-4D04-4E78-8606-F75894E8A29A}" srcOrd="0" destOrd="0" presId="urn:microsoft.com/office/officeart/2005/8/layout/vList2"/>
    <dgm:cxn modelId="{D86B5F5A-0663-4B36-8943-68B2DBF0A2DA}" srcId="{D116F3AD-EBAA-4A95-B87D-BFB34FAED025}" destId="{A32C6902-B5CA-4DB5-9176-408A26384C26}" srcOrd="0" destOrd="0" parTransId="{0DF57047-15D6-4A81-BB99-7D5BB68275E8}" sibTransId="{83C108E6-32D2-4ADB-979E-DF7664D6DAD2}"/>
    <dgm:cxn modelId="{DB8D067F-974F-473F-B351-FC28CB7658FB}" srcId="{D116F3AD-EBAA-4A95-B87D-BFB34FAED025}" destId="{66CB30F4-8462-48B7-91A3-102FEEFBA466}" srcOrd="2" destOrd="0" parTransId="{66EECA1C-EF81-4D7C-B1B0-C5B0EF2A26C4}" sibTransId="{5812D89E-B896-42FB-A255-66272FA312B3}"/>
    <dgm:cxn modelId="{F9BBEC7F-F6C7-4D27-8B28-FD250625DBF1}" type="presOf" srcId="{A32C6902-B5CA-4DB5-9176-408A26384C26}" destId="{711EF7F9-6499-4FFC-9AD1-874699BCE6A3}" srcOrd="0" destOrd="0" presId="urn:microsoft.com/office/officeart/2005/8/layout/vList2"/>
    <dgm:cxn modelId="{404E3889-55DD-4E90-B297-9EB6A9132953}" srcId="{D116F3AD-EBAA-4A95-B87D-BFB34FAED025}" destId="{2F786DEF-6642-4477-A9ED-C7DAF17A9BCA}" srcOrd="3" destOrd="0" parTransId="{600B4AA4-EED6-4854-ADB9-1E8C7ED23386}" sibTransId="{833B21DE-297C-4BD5-99B4-319CBF199238}"/>
    <dgm:cxn modelId="{4060699F-32EA-40E7-A9C7-9547A61A0ED8}" type="presOf" srcId="{2F786DEF-6642-4477-A9ED-C7DAF17A9BCA}" destId="{708CB72F-2185-45A7-A161-F071BBC8935A}" srcOrd="0" destOrd="0" presId="urn:microsoft.com/office/officeart/2005/8/layout/vList2"/>
    <dgm:cxn modelId="{F8E56E96-29F3-4437-B6FE-AFAC68652E71}" type="presParOf" srcId="{1EAEE4BD-DE21-43AD-B4D2-7ABA2E7BAD24}" destId="{711EF7F9-6499-4FFC-9AD1-874699BCE6A3}" srcOrd="0" destOrd="0" presId="urn:microsoft.com/office/officeart/2005/8/layout/vList2"/>
    <dgm:cxn modelId="{163FF3B9-7467-4759-964F-7750604D5C07}" type="presParOf" srcId="{1EAEE4BD-DE21-43AD-B4D2-7ABA2E7BAD24}" destId="{1EA35438-F55C-4958-B671-0E9C8AC42CE9}" srcOrd="1" destOrd="0" presId="urn:microsoft.com/office/officeart/2005/8/layout/vList2"/>
    <dgm:cxn modelId="{84DA313B-1632-4EA1-A1E2-98FDFF2F7B60}" type="presParOf" srcId="{1EAEE4BD-DE21-43AD-B4D2-7ABA2E7BAD24}" destId="{797E91A1-4D04-4E78-8606-F75894E8A29A}" srcOrd="2" destOrd="0" presId="urn:microsoft.com/office/officeart/2005/8/layout/vList2"/>
    <dgm:cxn modelId="{E37C3F4B-5DCB-44D0-AD33-C51C6282727D}" type="presParOf" srcId="{1EAEE4BD-DE21-43AD-B4D2-7ABA2E7BAD24}" destId="{30576CA4-5F71-48C7-9852-B6B55252E4F4}" srcOrd="3" destOrd="0" presId="urn:microsoft.com/office/officeart/2005/8/layout/vList2"/>
    <dgm:cxn modelId="{A5742A7E-BA0F-49C8-BA1A-E3C3C9BE6EDD}" type="presParOf" srcId="{1EAEE4BD-DE21-43AD-B4D2-7ABA2E7BAD24}" destId="{8E742C50-9BC1-4778-9451-BB10B8C330BA}" srcOrd="4" destOrd="0" presId="urn:microsoft.com/office/officeart/2005/8/layout/vList2"/>
    <dgm:cxn modelId="{77A0ED72-2A11-4050-8561-8F92D0849147}" type="presParOf" srcId="{1EAEE4BD-DE21-43AD-B4D2-7ABA2E7BAD24}" destId="{4B0E9530-1009-4F76-B757-5B933F182E4F}" srcOrd="5" destOrd="0" presId="urn:microsoft.com/office/officeart/2005/8/layout/vList2"/>
    <dgm:cxn modelId="{06DECEC4-0D63-402F-A965-69F8991D6671}" type="presParOf" srcId="{1EAEE4BD-DE21-43AD-B4D2-7ABA2E7BAD24}" destId="{708CB72F-2185-45A7-A161-F071BBC8935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1EF7F9-6499-4FFC-9AD1-874699BCE6A3}">
      <dsp:nvSpPr>
        <dsp:cNvPr id="0" name=""/>
        <dsp:cNvSpPr/>
      </dsp:nvSpPr>
      <dsp:spPr>
        <a:xfrm>
          <a:off x="0" y="210559"/>
          <a:ext cx="5000124" cy="119340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Agile was the best approach for this project</a:t>
          </a:r>
        </a:p>
      </dsp:txBody>
      <dsp:txXfrm>
        <a:off x="58257" y="268816"/>
        <a:ext cx="4883610" cy="1076886"/>
      </dsp:txXfrm>
    </dsp:sp>
    <dsp:sp modelId="{797E91A1-4D04-4E78-8606-F75894E8A29A}">
      <dsp:nvSpPr>
        <dsp:cNvPr id="0" name=""/>
        <dsp:cNvSpPr/>
      </dsp:nvSpPr>
      <dsp:spPr>
        <a:xfrm>
          <a:off x="0" y="1490359"/>
          <a:ext cx="5000124" cy="1193400"/>
        </a:xfrm>
        <a:prstGeom prst="round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Allowed quick adjustments when requirements changed</a:t>
          </a:r>
        </a:p>
      </dsp:txBody>
      <dsp:txXfrm>
        <a:off x="58257" y="1548616"/>
        <a:ext cx="4883610" cy="1076886"/>
      </dsp:txXfrm>
    </dsp:sp>
    <dsp:sp modelId="{8E742C50-9BC1-4778-9451-BB10B8C330BA}">
      <dsp:nvSpPr>
        <dsp:cNvPr id="0" name=""/>
        <dsp:cNvSpPr/>
      </dsp:nvSpPr>
      <dsp:spPr>
        <a:xfrm>
          <a:off x="0" y="2770159"/>
          <a:ext cx="5000124" cy="1193400"/>
        </a:xfrm>
        <a:prstGeom prst="round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Kept project on schedule</a:t>
          </a:r>
        </a:p>
      </dsp:txBody>
      <dsp:txXfrm>
        <a:off x="58257" y="2828416"/>
        <a:ext cx="4883610" cy="1076886"/>
      </dsp:txXfrm>
    </dsp:sp>
    <dsp:sp modelId="{708CB72F-2185-45A7-A161-F071BBC8935A}">
      <dsp:nvSpPr>
        <dsp:cNvPr id="0" name=""/>
        <dsp:cNvSpPr/>
      </dsp:nvSpPr>
      <dsp:spPr>
        <a:xfrm>
          <a:off x="0" y="4049960"/>
          <a:ext cx="5000124" cy="119340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Waterfall better only for fixed and predictable projects</a:t>
          </a:r>
        </a:p>
      </dsp:txBody>
      <dsp:txXfrm>
        <a:off x="58257" y="4108217"/>
        <a:ext cx="4883610" cy="10768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hyperlink" Target="https://www.atlassian.com/software/jira" TargetMode="External"/><Relationship Id="rId2" Type="http://schemas.openxmlformats.org/officeDocument/2006/relationships/hyperlink" Target="https://scrumguides.org/" TargetMode="External"/><Relationship Id="rId1" Type="http://schemas.openxmlformats.org/officeDocument/2006/relationships/slideLayout" Target="../slideLayouts/slideLayout2.xml"/><Relationship Id="rId5" Type="http://schemas.openxmlformats.org/officeDocument/2006/relationships/hyperlink" Target="https://www.atlassian.com/agile/project-management/waterfall-methodology" TargetMode="External"/><Relationship Id="rId4" Type="http://schemas.openxmlformats.org/officeDocument/2006/relationships/hyperlink" Target="https://agilemanifesto.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351564"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580056" y="992094"/>
            <a:ext cx="2712684" cy="2795160"/>
          </a:xfrm>
        </p:spPr>
        <p:txBody>
          <a:bodyPr>
            <a:normAutofit/>
          </a:bodyPr>
          <a:lstStyle/>
          <a:p>
            <a:r>
              <a:rPr lang="en-US" sz="3800"/>
              <a:t>SNHU Travel Project</a:t>
            </a:r>
          </a:p>
        </p:txBody>
      </p:sp>
      <p:sp>
        <p:nvSpPr>
          <p:cNvPr id="3" name="Subtitle 2"/>
          <p:cNvSpPr>
            <a:spLocks noGrp="1"/>
          </p:cNvSpPr>
          <p:nvPr>
            <p:ph type="subTitle" idx="1"/>
          </p:nvPr>
        </p:nvSpPr>
        <p:spPr>
          <a:xfrm>
            <a:off x="747215" y="4121253"/>
            <a:ext cx="2344003" cy="1136843"/>
          </a:xfrm>
        </p:spPr>
        <p:txBody>
          <a:bodyPr>
            <a:normAutofit/>
          </a:bodyPr>
          <a:lstStyle/>
          <a:p>
            <a:r>
              <a:rPr lang="en-US" sz="1600"/>
              <a:t>Agile vs Waterfall Development</a:t>
            </a:r>
          </a:p>
          <a:p>
            <a:r>
              <a:rPr lang="en-US" sz="1600"/>
              <a:t>ChadaTech Pilot Program</a:t>
            </a:r>
          </a:p>
        </p:txBody>
      </p:sp>
      <p:pic>
        <p:nvPicPr>
          <p:cNvPr id="4" name="Picture 3" descr="Final Project Chada Tech Logo.png"/>
          <p:cNvPicPr>
            <a:picLocks noChangeAspect="1"/>
          </p:cNvPicPr>
          <p:nvPr/>
        </p:nvPicPr>
        <p:blipFill>
          <a:blip r:embed="rId2"/>
          <a:stretch>
            <a:fillRect/>
          </a:stretch>
        </p:blipFill>
        <p:spPr>
          <a:xfrm>
            <a:off x="4421813" y="1829862"/>
            <a:ext cx="4281487" cy="3168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3400">
                <a:solidFill>
                  <a:srgbClr val="FFFFFF"/>
                </a:solidFill>
              </a:rPr>
              <a:t>Agile Roles Explanation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pPr>
            <a:r>
              <a:rPr lang="en-US" sz="2700"/>
              <a:t>Product Owner: Defines and prioritizes product backlog</a:t>
            </a:r>
          </a:p>
          <a:p>
            <a:pPr>
              <a:lnSpc>
                <a:spcPct val="90000"/>
              </a:lnSpc>
            </a:pPr>
            <a:r>
              <a:rPr lang="en-US" sz="2700"/>
              <a:t>Focuses on maximizing customer value</a:t>
            </a:r>
          </a:p>
          <a:p>
            <a:pPr>
              <a:lnSpc>
                <a:spcPct val="90000"/>
              </a:lnSpc>
            </a:pPr>
            <a:r>
              <a:rPr lang="en-US" sz="2700"/>
              <a:t>Scrum Master: Facilitates Scrum events and removes blockers</a:t>
            </a:r>
          </a:p>
          <a:p>
            <a:pPr>
              <a:lnSpc>
                <a:spcPct val="90000"/>
              </a:lnSpc>
            </a:pPr>
            <a:r>
              <a:rPr lang="en-US" sz="2700"/>
              <a:t>Ensures Agile practices are followed</a:t>
            </a:r>
          </a:p>
          <a:p>
            <a:pPr>
              <a:lnSpc>
                <a:spcPct val="90000"/>
              </a:lnSpc>
            </a:pPr>
            <a:r>
              <a:rPr lang="en-US" sz="2700"/>
              <a:t>Development Team: Developers and testers working together</a:t>
            </a:r>
          </a:p>
          <a:p>
            <a:pPr>
              <a:lnSpc>
                <a:spcPct val="90000"/>
              </a:lnSpc>
            </a:pPr>
            <a:r>
              <a:rPr lang="en-US" sz="2700"/>
              <a:t>Self-organized and cross-functional team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7519" y="741391"/>
            <a:ext cx="2591866" cy="1616203"/>
          </a:xfrm>
        </p:spPr>
        <p:txBody>
          <a:bodyPr vert="horz" lIns="91440" tIns="45720" rIns="91440" bIns="45720" rtlCol="0" anchor="b">
            <a:normAutofit/>
          </a:bodyPr>
          <a:lstStyle/>
          <a:p>
            <a:pPr algn="l" defTabSz="914400">
              <a:lnSpc>
                <a:spcPct val="90000"/>
              </a:lnSpc>
            </a:pPr>
            <a:r>
              <a:rPr lang="en-US" sz="2800" kern="1200">
                <a:solidFill>
                  <a:schemeClr val="tx1"/>
                </a:solidFill>
                <a:latin typeface="+mj-lt"/>
                <a:ea typeface="+mj-ea"/>
                <a:cs typeface="+mj-cs"/>
              </a:rPr>
              <a:t>Software Development Life Cycle</a:t>
            </a:r>
          </a:p>
        </p:txBody>
      </p:sp>
      <p:sp>
        <p:nvSpPr>
          <p:cNvPr id="5" name="TextBox 4">
            <a:extLst>
              <a:ext uri="{FF2B5EF4-FFF2-40B4-BE49-F238E27FC236}">
                <a16:creationId xmlns:a16="http://schemas.microsoft.com/office/drawing/2014/main" id="{23B51C37-76CD-9071-C68F-C626A95A783B}"/>
              </a:ext>
            </a:extLst>
          </p:cNvPr>
          <p:cNvSpPr txBox="1"/>
          <p:nvPr/>
        </p:nvSpPr>
        <p:spPr>
          <a:xfrm>
            <a:off x="657519" y="2552931"/>
            <a:ext cx="2591866" cy="34478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indent="-228600" defTabSz="914400">
              <a:lnSpc>
                <a:spcPct val="90000"/>
              </a:lnSpc>
              <a:spcAft>
                <a:spcPts val="600"/>
              </a:spcAft>
              <a:buFont typeface="Arial" panose="020B0604020202020204" pitchFamily="34" charset="0"/>
              <a:buChar char="•"/>
            </a:pPr>
            <a:r>
              <a:rPr lang="en-US" sz="900" b="1">
                <a:latin typeface="Times New Roman"/>
                <a:cs typeface="Times New Roman"/>
              </a:rPr>
              <a:t>1. Analysis</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a:latin typeface="Times New Roman"/>
                <a:cs typeface="Times New Roman"/>
              </a:rPr>
              <a:t>Gather requirements from stakeholders </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dirty="0">
                <a:latin typeface="Times New Roman"/>
                <a:cs typeface="Times New Roman"/>
              </a:rPr>
              <a:t>Identify user needs </a:t>
            </a: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b="1">
                <a:latin typeface="Times New Roman"/>
                <a:cs typeface="Times New Roman"/>
              </a:rPr>
              <a:t>2. Design</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a:latin typeface="Times New Roman"/>
                <a:cs typeface="Times New Roman"/>
              </a:rPr>
              <a:t>Plan system structure and features </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a:latin typeface="Times New Roman"/>
                <a:cs typeface="Times New Roman"/>
              </a:rPr>
              <a:t>Consider time and budget </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b="1">
                <a:latin typeface="Times New Roman"/>
                <a:cs typeface="Times New Roman"/>
              </a:rPr>
              <a:t>3. Implementation</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a:latin typeface="Times New Roman"/>
                <a:cs typeface="Times New Roman"/>
              </a:rPr>
              <a:t>Build features </a:t>
            </a:r>
            <a:r>
              <a:rPr lang="en-US" sz="900" b="0" i="0">
                <a:latin typeface="Times New Roman"/>
                <a:cs typeface="Times New Roman"/>
              </a:rPr>
              <a:t>in </a:t>
            </a:r>
            <a:r>
              <a:rPr lang="en-US" sz="900">
                <a:latin typeface="Times New Roman"/>
                <a:cs typeface="Times New Roman"/>
              </a:rPr>
              <a:t>small increments </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b="1">
                <a:latin typeface="Times New Roman"/>
                <a:cs typeface="Times New Roman"/>
              </a:rPr>
              <a:t>4</a:t>
            </a:r>
            <a:r>
              <a:rPr lang="en-US" sz="900" b="1" i="0">
                <a:latin typeface="Times New Roman"/>
                <a:cs typeface="Times New Roman"/>
              </a:rPr>
              <a:t>. </a:t>
            </a:r>
            <a:r>
              <a:rPr lang="en-US" sz="900" b="1">
                <a:latin typeface="Times New Roman"/>
                <a:cs typeface="Times New Roman"/>
              </a:rPr>
              <a:t>Testing</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b="0" i="0" dirty="0">
                <a:latin typeface="Times New Roman"/>
                <a:cs typeface="Times New Roman"/>
              </a:rPr>
              <a:t>Identify </a:t>
            </a:r>
            <a:r>
              <a:rPr lang="en-US" sz="900" dirty="0">
                <a:latin typeface="Times New Roman"/>
                <a:cs typeface="Times New Roman"/>
              </a:rPr>
              <a:t>bugs </a:t>
            </a:r>
            <a:r>
              <a:rPr lang="en-US" sz="900" b="0" i="0" dirty="0">
                <a:latin typeface="Times New Roman"/>
                <a:cs typeface="Times New Roman"/>
              </a:rPr>
              <a:t>and </a:t>
            </a:r>
            <a:r>
              <a:rPr lang="en-US" sz="900" dirty="0">
                <a:latin typeface="Times New Roman"/>
                <a:cs typeface="Times New Roman"/>
              </a:rPr>
              <a:t>issues </a:t>
            </a: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b="1">
                <a:latin typeface="Times New Roman"/>
                <a:cs typeface="Times New Roman"/>
              </a:rPr>
              <a:t>5. Deployment</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a:latin typeface="Times New Roman"/>
                <a:cs typeface="Times New Roman"/>
              </a:rPr>
              <a:t>Release product to users </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endParaRPr lang="en-US" sz="900" dirty="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b="1">
                <a:latin typeface="Times New Roman"/>
                <a:cs typeface="Times New Roman"/>
              </a:rPr>
              <a:t>6</a:t>
            </a:r>
            <a:r>
              <a:rPr lang="en-US" sz="900" b="1" i="0">
                <a:latin typeface="Times New Roman"/>
                <a:cs typeface="Times New Roman"/>
              </a:rPr>
              <a:t>.</a:t>
            </a:r>
            <a:r>
              <a:rPr lang="en-US" sz="900" b="1">
                <a:latin typeface="Times New Roman"/>
                <a:cs typeface="Times New Roman"/>
              </a:rPr>
              <a:t> Maintenance</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r>
              <a:rPr lang="en-US" sz="900">
                <a:latin typeface="Times New Roman"/>
                <a:cs typeface="Times New Roman"/>
              </a:rPr>
              <a:t>Fix bugs and add improvements</a:t>
            </a:r>
            <a:endParaRPr lang="en-US" sz="900">
              <a:latin typeface="Times New Roman"/>
              <a:ea typeface="Calibri"/>
              <a:cs typeface="Times New Roman"/>
            </a:endParaRPr>
          </a:p>
          <a:p>
            <a:pPr indent="-228600" defTabSz="914400">
              <a:lnSpc>
                <a:spcPct val="90000"/>
              </a:lnSpc>
              <a:spcAft>
                <a:spcPts val="600"/>
              </a:spcAft>
              <a:buFont typeface="Arial" panose="020B0604020202020204" pitchFamily="34" charset="0"/>
              <a:buChar char="•"/>
            </a:pPr>
            <a:endParaRPr lang="en-US" sz="700" b="0" i="0"/>
          </a:p>
          <a:p>
            <a:pPr indent="-228600" defTabSz="914400">
              <a:lnSpc>
                <a:spcPct val="90000"/>
              </a:lnSpc>
              <a:spcAft>
                <a:spcPts val="600"/>
              </a:spcAft>
              <a:buFont typeface="Arial" panose="020B0604020202020204" pitchFamily="34" charset="0"/>
              <a:buChar char="•"/>
            </a:pPr>
            <a:endParaRPr lang="en-US" sz="700"/>
          </a:p>
        </p:txBody>
      </p:sp>
      <p:pic>
        <p:nvPicPr>
          <p:cNvPr id="6" name="Picture 5" descr="A diagram of software development&#10;&#10;AI-generated content may be incorrect.">
            <a:extLst>
              <a:ext uri="{FF2B5EF4-FFF2-40B4-BE49-F238E27FC236}">
                <a16:creationId xmlns:a16="http://schemas.microsoft.com/office/drawing/2014/main" id="{0440457E-F191-2532-A45E-43C46DD01973}"/>
              </a:ext>
            </a:extLst>
          </p:cNvPr>
          <p:cNvPicPr>
            <a:picLocks noChangeAspect="1"/>
          </p:cNvPicPr>
          <p:nvPr/>
        </p:nvPicPr>
        <p:blipFill>
          <a:blip r:embed="rId2"/>
          <a:stretch>
            <a:fillRect/>
          </a:stretch>
        </p:blipFill>
        <p:spPr>
          <a:xfrm>
            <a:off x="2699894" y="2195944"/>
            <a:ext cx="6358162" cy="3448186"/>
          </a:xfrm>
          <a:prstGeom prst="rect">
            <a:avLst/>
          </a:prstGeom>
        </p:spPr>
      </p:pic>
      <p:grpSp>
        <p:nvGrpSpPr>
          <p:cNvPr id="21" name="Group 2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051478" y="0"/>
            <a:ext cx="92522" cy="6858000"/>
            <a:chOff x="12068638" y="0"/>
            <a:chExt cx="123362" cy="6858000"/>
          </a:xfrm>
        </p:grpSpPr>
        <p:sp>
          <p:nvSpPr>
            <p:cNvPr id="22" name="Rectangle 2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8A6DD-9888-263D-B59E-15E2BA68A0F4}"/>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ea typeface="Calibri"/>
                <a:cs typeface="Calibri"/>
              </a:rPr>
              <a:t>WATERFALL APPROACH</a:t>
            </a:r>
            <a:endParaRPr lang="en-US" sz="3500">
              <a:solidFill>
                <a:srgbClr val="FFFFFF"/>
              </a:solidFill>
            </a:endParaRPr>
          </a:p>
        </p:txBody>
      </p:sp>
      <p:sp>
        <p:nvSpPr>
          <p:cNvPr id="3" name="Content Placeholder 2">
            <a:extLst>
              <a:ext uri="{FF2B5EF4-FFF2-40B4-BE49-F238E27FC236}">
                <a16:creationId xmlns:a16="http://schemas.microsoft.com/office/drawing/2014/main" id="{085C8AB2-4F7A-D11E-273D-B8B947E3D7D8}"/>
              </a:ext>
            </a:extLst>
          </p:cNvPr>
          <p:cNvSpPr>
            <a:spLocks noGrp="1"/>
          </p:cNvSpPr>
          <p:nvPr>
            <p:ph idx="1"/>
          </p:nvPr>
        </p:nvSpPr>
        <p:spPr>
          <a:xfrm>
            <a:off x="3607694" y="649480"/>
            <a:ext cx="4916510" cy="5546047"/>
          </a:xfrm>
        </p:spPr>
        <p:txBody>
          <a:bodyPr vert="horz" lIns="91440" tIns="45720" rIns="91440" bIns="45720" rtlCol="0" anchor="ctr">
            <a:normAutofit/>
          </a:bodyPr>
          <a:lstStyle/>
          <a:p>
            <a:pPr>
              <a:buNone/>
            </a:pPr>
            <a:r>
              <a:rPr lang="en-US" sz="1700"/>
              <a:t>  </a:t>
            </a:r>
            <a:r>
              <a:rPr lang="en-US" sz="1700" dirty="0"/>
              <a:t>With a waterfall development approach, the process would be much more rigid and follow a set order compared to Agile. For the SNHU Travel project, all requirements would need to be clearly defined at the start before moving on to design and development. If the Product Owner wanted to shift the focus to detox and wellness travel later, it would cause major delays because earlier steps like requirements and design would have to be revisited or redone. This would likely increase both the time and cost of the project. Unlike Agile, where changes can be made by updating certain features, waterfall would mean going back through several stages. Because of this, the team would have less flexibility and would not be able to respond quickly to new ideas or market changes.</a:t>
            </a:r>
          </a:p>
          <a:p>
            <a:pPr marL="0" indent="0">
              <a:buNone/>
            </a:pPr>
            <a:endParaRPr lang="en-US" sz="1700">
              <a:ea typeface="Calibri"/>
              <a:cs typeface="Calibri"/>
            </a:endParaRPr>
          </a:p>
        </p:txBody>
      </p:sp>
    </p:spTree>
    <p:extLst>
      <p:ext uri="{BB962C8B-B14F-4D97-AF65-F5344CB8AC3E}">
        <p14:creationId xmlns:p14="http://schemas.microsoft.com/office/powerpoint/2010/main" val="2579649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Agile Approach</a:t>
            </a:r>
          </a:p>
        </p:txBody>
      </p:sp>
      <p:sp>
        <p:nvSpPr>
          <p:cNvPr id="3" name="Content Placeholder 2"/>
          <p:cNvSpPr>
            <a:spLocks noGrp="1"/>
          </p:cNvSpPr>
          <p:nvPr>
            <p:ph idx="1"/>
          </p:nvPr>
        </p:nvSpPr>
        <p:spPr>
          <a:xfrm>
            <a:off x="3607694" y="649480"/>
            <a:ext cx="4916510" cy="5546047"/>
          </a:xfrm>
        </p:spPr>
        <p:txBody>
          <a:bodyPr vert="horz" lIns="91440" tIns="45720" rIns="91440" bIns="45720" rtlCol="0" anchor="ctr">
            <a:normAutofit/>
          </a:bodyPr>
          <a:lstStyle/>
          <a:p>
            <a:pPr marL="0" indent="0">
              <a:buNone/>
            </a:pPr>
            <a:r>
              <a:rPr lang="en-US" sz="1700"/>
              <a:t>When deciding between waterfall and Agile, it helps to look at how stable the requirements are, how complex the project is, and how often things might change. If the requirements are clear and unlikely to change, waterfall can be a good fit since everything is planned from the start. But if the project is more complicated and changes are likely, Agile usually works better. In my experience with the SNHU Travel project, Agile was more effective because our requirements changed when we shifted our focus to detox and wellness travel. Instead of starting over, we just adjusted certain features and kept moving forward. This experience showed me that Agile is best for projects that need flexibility, teamwork, and ongoing improvement, while waterfall works better when things are predictable and stable.</a:t>
            </a:r>
            <a:endParaRPr lang="en-US"/>
          </a:p>
          <a:p>
            <a:endParaRPr lang="en-US" sz="170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2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2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78320" y="1161288"/>
            <a:ext cx="2578608" cy="1239012"/>
          </a:xfrm>
        </p:spPr>
        <p:txBody>
          <a:bodyPr vert="horz" lIns="91440" tIns="45720" rIns="91440" bIns="45720" rtlCol="0" anchor="ctr">
            <a:normAutofit/>
          </a:bodyPr>
          <a:lstStyle/>
          <a:p>
            <a:pPr algn="l" defTabSz="914400">
              <a:lnSpc>
                <a:spcPct val="90000"/>
              </a:lnSpc>
            </a:pPr>
            <a:r>
              <a:rPr lang="en-US" sz="2400" kern="1200">
                <a:solidFill>
                  <a:schemeClr val="tx1"/>
                </a:solidFill>
                <a:latin typeface="+mj-lt"/>
                <a:ea typeface="+mj-ea"/>
                <a:cs typeface="+mj-cs"/>
              </a:rPr>
              <a:t>Waterfall vs Agile</a:t>
            </a:r>
          </a:p>
        </p:txBody>
      </p:sp>
      <p:sp>
        <p:nvSpPr>
          <p:cNvPr id="26" name="Rectangle 2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8" name="Rectangle 2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2443480"/>
            <a:ext cx="25374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278320" y="2718054"/>
            <a:ext cx="2579180" cy="3207258"/>
          </a:xfrm>
          <a:prstGeom prst="rect">
            <a:avLst/>
          </a:prstGeom>
        </p:spPr>
        <p:txBody>
          <a:bodyPr vert="horz" lIns="91440" tIns="45720" rIns="91440" bIns="45720" rtlCol="0" anchor="t">
            <a:normAutofit/>
          </a:bodyPr>
          <a:lstStyle/>
          <a:p>
            <a:pPr indent="-228600" defTabSz="914400">
              <a:lnSpc>
                <a:spcPct val="90000"/>
              </a:lnSpc>
              <a:buFont typeface="Arial" panose="020B0604020202020204" pitchFamily="34" charset="0"/>
              <a:buChar char="•"/>
            </a:pPr>
            <a:r>
              <a:rPr lang="en-US" sz="1500" b="1"/>
              <a:t>Waterfall</a:t>
            </a:r>
          </a:p>
          <a:p>
            <a:pPr marL="285750" indent="-228600" defTabSz="914400">
              <a:lnSpc>
                <a:spcPct val="90000"/>
              </a:lnSpc>
              <a:buFont typeface="Arial" panose="020B0604020202020204" pitchFamily="34" charset="0"/>
              <a:buChar char="•"/>
            </a:pPr>
            <a:r>
              <a:rPr lang="en-US" sz="1500"/>
              <a:t>Fixed sequence of steps </a:t>
            </a:r>
          </a:p>
          <a:p>
            <a:pPr marL="285750" indent="-228600" defTabSz="914400">
              <a:lnSpc>
                <a:spcPct val="90000"/>
              </a:lnSpc>
              <a:buFont typeface="Arial" panose="020B0604020202020204" pitchFamily="34" charset="0"/>
              <a:buChar char="•"/>
            </a:pPr>
            <a:r>
              <a:rPr lang="en-US" sz="1500"/>
              <a:t>Hard to make changes </a:t>
            </a:r>
          </a:p>
          <a:p>
            <a:pPr marL="285750" indent="-228600" defTabSz="914400">
              <a:lnSpc>
                <a:spcPct val="90000"/>
              </a:lnSpc>
              <a:buFont typeface="Arial" panose="020B0604020202020204" pitchFamily="34" charset="0"/>
              <a:buChar char="•"/>
            </a:pPr>
            <a:r>
              <a:rPr lang="en-US" sz="1500"/>
              <a:t>Requires full planning upfront </a:t>
            </a:r>
          </a:p>
          <a:p>
            <a:pPr indent="-228600" defTabSz="914400">
              <a:lnSpc>
                <a:spcPct val="90000"/>
              </a:lnSpc>
              <a:buFont typeface="Arial" panose="020B0604020202020204" pitchFamily="34" charset="0"/>
              <a:buChar char="•"/>
            </a:pPr>
            <a:r>
              <a:rPr lang="en-US" sz="1500" b="1"/>
              <a:t>Agile</a:t>
            </a:r>
          </a:p>
          <a:p>
            <a:pPr marL="285750" indent="-228600" defTabSz="914400">
              <a:lnSpc>
                <a:spcPct val="90000"/>
              </a:lnSpc>
              <a:buFont typeface="Arial" panose="020B0604020202020204" pitchFamily="34" charset="0"/>
              <a:buChar char="•"/>
            </a:pPr>
            <a:r>
              <a:rPr lang="en-US" sz="1500"/>
              <a:t>Flexible and adaptive </a:t>
            </a:r>
          </a:p>
          <a:p>
            <a:pPr marL="285750" indent="-228600" defTabSz="914400">
              <a:lnSpc>
                <a:spcPct val="90000"/>
              </a:lnSpc>
              <a:buFont typeface="Arial" panose="020B0604020202020204" pitchFamily="34" charset="0"/>
              <a:buChar char="•"/>
            </a:pPr>
            <a:r>
              <a:rPr lang="en-US" sz="1500"/>
              <a:t>Continuous development cycles </a:t>
            </a:r>
          </a:p>
          <a:p>
            <a:pPr marL="285750" indent="-228600" defTabSz="914400">
              <a:lnSpc>
                <a:spcPct val="90000"/>
              </a:lnSpc>
              <a:buFont typeface="Arial" panose="020B0604020202020204" pitchFamily="34" charset="0"/>
              <a:buChar char="•"/>
            </a:pPr>
            <a:r>
              <a:rPr lang="en-US" sz="1500"/>
              <a:t>Faster response to change</a:t>
            </a:r>
          </a:p>
          <a:p>
            <a:pPr indent="-228600" defTabSz="914400">
              <a:lnSpc>
                <a:spcPct val="90000"/>
              </a:lnSpc>
              <a:spcBef>
                <a:spcPts val="1000"/>
              </a:spcBef>
              <a:buFont typeface="Arial" panose="020B0604020202020204" pitchFamily="34" charset="0"/>
              <a:buChar char="•"/>
            </a:pPr>
            <a:endParaRPr lang="en-US" sz="1500"/>
          </a:p>
        </p:txBody>
      </p:sp>
      <p:pic>
        <p:nvPicPr>
          <p:cNvPr id="3" name="Picture 2" descr="waterfall-vs-agile.png"/>
          <p:cNvPicPr>
            <a:picLocks noChangeAspect="1"/>
          </p:cNvPicPr>
          <p:nvPr/>
        </p:nvPicPr>
        <p:blipFill>
          <a:blip r:embed="rId2"/>
          <a:stretch>
            <a:fillRect/>
          </a:stretch>
        </p:blipFill>
        <p:spPr>
          <a:xfrm>
            <a:off x="3675888" y="2019181"/>
            <a:ext cx="5191506" cy="29202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Why Agile Was Better</a:t>
            </a:r>
          </a:p>
        </p:txBody>
      </p:sp>
      <p:sp>
        <p:nvSpPr>
          <p:cNvPr id="3" name="Content Placeholder 2"/>
          <p:cNvSpPr>
            <a:spLocks noGrp="1"/>
          </p:cNvSpPr>
          <p:nvPr>
            <p:ph idx="1"/>
          </p:nvPr>
        </p:nvSpPr>
        <p:spPr>
          <a:xfrm>
            <a:off x="3607694" y="649480"/>
            <a:ext cx="4916510" cy="5546047"/>
          </a:xfrm>
        </p:spPr>
        <p:txBody>
          <a:bodyPr vert="horz" lIns="91440" tIns="45720" rIns="91440" bIns="45720" rtlCol="0" anchor="ctr">
            <a:normAutofit/>
          </a:bodyPr>
          <a:lstStyle/>
          <a:p>
            <a:r>
              <a:rPr lang="en-US" sz="1700">
                <a:ea typeface="+mn-lt"/>
                <a:cs typeface="+mn-lt"/>
              </a:rPr>
              <a:t>Agile was a better approach for the SNHU Travel project because it allowed the team to adapt quickly to changing requirements without slowing down development. When the Product Owner shifted the focus to detox and wellness travel, the team did not have to restart the entire project. Instead, only specific parts of the system, like the slideshow content, were updated. This flexibility saved time and reduced unnecessary rework. Agile also improved communication between team members through continuous feedback and collaboration, which helped ensure everyone stayed aligned. Overall, Agile made it easier to deliver a working product efficiently while still responding to changes and user needs.</a:t>
            </a:r>
            <a:endParaRPr lang="en-US" sz="1700"/>
          </a:p>
          <a:p>
            <a:endParaRPr lang="en-US" sz="170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Final Decision</a:t>
            </a:r>
          </a:p>
        </p:txBody>
      </p:sp>
      <p:graphicFrame>
        <p:nvGraphicFramePr>
          <p:cNvPr id="5" name="Content Placeholder 2">
            <a:extLst>
              <a:ext uri="{FF2B5EF4-FFF2-40B4-BE49-F238E27FC236}">
                <a16:creationId xmlns:a16="http://schemas.microsoft.com/office/drawing/2014/main" id="{7639DDCC-A3F4-A230-8130-EA2FF258315A}"/>
              </a:ext>
            </a:extLst>
          </p:cNvPr>
          <p:cNvGraphicFramePr>
            <a:graphicFrameLocks noGrp="1"/>
          </p:cNvGraphicFramePr>
          <p:nvPr>
            <p:ph idx="1"/>
            <p:extLst>
              <p:ext uri="{D42A27DB-BD31-4B8C-83A1-F6EECF244321}">
                <p14:modId xmlns:p14="http://schemas.microsoft.com/office/powerpoint/2010/main" val="372075765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marL="342900" indent="-342900" algn="r">
              <a:spcBef>
                <a:spcPct val="20000"/>
              </a:spcBef>
            </a:pPr>
            <a:r>
              <a:rPr lang="en-US" sz="3500" b="1">
                <a:solidFill>
                  <a:srgbClr val="FFFFFF"/>
                </a:solidFill>
              </a:rPr>
              <a:t>References (APA 7th Edition)</a:t>
            </a:r>
            <a:endParaRPr lang="en-US" sz="3500">
              <a:solidFill>
                <a:srgbClr val="FFFFFF"/>
              </a:solidFill>
            </a:endParaRPr>
          </a:p>
          <a:p>
            <a:pPr algn="r"/>
            <a:endParaRPr lang="en-US" sz="3500">
              <a:solidFill>
                <a:srgbClr val="FFFFFF"/>
              </a:solidFill>
              <a:ea typeface="Calibri"/>
              <a:cs typeface="Calibri"/>
            </a:endParaRPr>
          </a:p>
        </p:txBody>
      </p:sp>
      <p:sp>
        <p:nvSpPr>
          <p:cNvPr id="3" name="Content Placeholder 2"/>
          <p:cNvSpPr>
            <a:spLocks noGrp="1"/>
          </p:cNvSpPr>
          <p:nvPr>
            <p:ph idx="1"/>
          </p:nvPr>
        </p:nvSpPr>
        <p:spPr>
          <a:xfrm>
            <a:off x="3607694" y="649480"/>
            <a:ext cx="4916510" cy="5546047"/>
          </a:xfrm>
        </p:spPr>
        <p:txBody>
          <a:bodyPr vert="horz" lIns="91440" tIns="45720" rIns="91440" bIns="45720" rtlCol="0" anchor="ctr">
            <a:normAutofit/>
          </a:bodyPr>
          <a:lstStyle/>
          <a:p>
            <a:r>
              <a:rPr lang="en-US" sz="1700">
                <a:ea typeface="+mn-lt"/>
                <a:cs typeface="+mn-lt"/>
              </a:rPr>
              <a:t>Schwaber, K., &amp; Sutherland, J. (2020). </a:t>
            </a:r>
            <a:r>
              <a:rPr lang="en-US" sz="1700" i="1">
                <a:ea typeface="+mn-lt"/>
                <a:cs typeface="+mn-lt"/>
              </a:rPr>
              <a:t>The Scrum guide: The definitive guide to Scrum: The rules of the game</a:t>
            </a:r>
            <a:r>
              <a:rPr lang="en-US" sz="1700">
                <a:ea typeface="+mn-lt"/>
                <a:cs typeface="+mn-lt"/>
              </a:rPr>
              <a:t>. Scrum.org. </a:t>
            </a:r>
            <a:r>
              <a:rPr lang="en-US" sz="1700">
                <a:ea typeface="+mn-lt"/>
                <a:cs typeface="+mn-lt"/>
                <a:hlinkClick r:id="rId2"/>
              </a:rPr>
              <a:t>https://scrumguides.org</a:t>
            </a:r>
            <a:endParaRPr lang="en-US" sz="1700">
              <a:ea typeface="Calibri"/>
              <a:cs typeface="Calibri"/>
            </a:endParaRPr>
          </a:p>
          <a:p>
            <a:r>
              <a:rPr lang="en-US" sz="1700">
                <a:ea typeface="+mn-lt"/>
                <a:cs typeface="+mn-lt"/>
              </a:rPr>
              <a:t>Atlassian. (2023). </a:t>
            </a:r>
            <a:r>
              <a:rPr lang="en-US" sz="1700" i="1">
                <a:ea typeface="+mn-lt"/>
                <a:cs typeface="+mn-lt"/>
              </a:rPr>
              <a:t>What is Jira?</a:t>
            </a:r>
            <a:r>
              <a:rPr lang="en-US" sz="1700">
                <a:ea typeface="+mn-lt"/>
                <a:cs typeface="+mn-lt"/>
              </a:rPr>
              <a:t> </a:t>
            </a:r>
            <a:r>
              <a:rPr lang="en-US" sz="1700">
                <a:ea typeface="+mn-lt"/>
                <a:cs typeface="+mn-lt"/>
                <a:hlinkClick r:id="rId3"/>
              </a:rPr>
              <a:t>https://www.atlassian.com/software/jira</a:t>
            </a:r>
            <a:endParaRPr lang="en-US" sz="1700"/>
          </a:p>
          <a:p>
            <a:r>
              <a:rPr lang="en-US" sz="1700">
                <a:ea typeface="+mn-lt"/>
                <a:cs typeface="+mn-lt"/>
              </a:rPr>
              <a:t>Beck, K., et al. (2021). </a:t>
            </a:r>
            <a:r>
              <a:rPr lang="en-US" sz="1700" i="1">
                <a:ea typeface="+mn-lt"/>
                <a:cs typeface="+mn-lt"/>
              </a:rPr>
              <a:t>Manifesto for Agile software development</a:t>
            </a:r>
            <a:r>
              <a:rPr lang="en-US" sz="1700">
                <a:ea typeface="+mn-lt"/>
                <a:cs typeface="+mn-lt"/>
              </a:rPr>
              <a:t>. Agile Alliance. </a:t>
            </a:r>
            <a:r>
              <a:rPr lang="en-US" sz="1700">
                <a:ea typeface="+mn-lt"/>
                <a:cs typeface="+mn-lt"/>
                <a:hlinkClick r:id="rId4"/>
              </a:rPr>
              <a:t>https://agilemanifesto.org</a:t>
            </a:r>
            <a:endParaRPr lang="en-US" sz="1700"/>
          </a:p>
          <a:p>
            <a:r>
              <a:rPr lang="en-US" sz="1700">
                <a:ea typeface="+mn-lt"/>
                <a:cs typeface="+mn-lt"/>
              </a:rPr>
              <a:t>Atlassian. (2024). </a:t>
            </a:r>
            <a:r>
              <a:rPr lang="en-US" sz="1700" i="1">
                <a:ea typeface="+mn-lt"/>
                <a:cs typeface="+mn-lt"/>
              </a:rPr>
              <a:t>Waterfall methodology</a:t>
            </a:r>
            <a:r>
              <a:rPr lang="en-US" sz="1700">
                <a:ea typeface="+mn-lt"/>
                <a:cs typeface="+mn-lt"/>
              </a:rPr>
              <a:t>. </a:t>
            </a:r>
            <a:r>
              <a:rPr lang="en-US" sz="1700">
                <a:ea typeface="+mn-lt"/>
                <a:cs typeface="+mn-lt"/>
                <a:hlinkClick r:id="rId5"/>
              </a:rPr>
              <a:t>https://www.atlassian.com/agile/project-management/waterfall-methodology</a:t>
            </a:r>
            <a:endParaRPr lang="en-US" sz="1700"/>
          </a:p>
          <a:p>
            <a:endParaRPr lang="en-US" sz="170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9</Slides>
  <Notes>0</Notes>
  <HiddenSlides>1</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SNHU Travel Project</vt:lpstr>
      <vt:lpstr>Agile Roles Explanation</vt:lpstr>
      <vt:lpstr>Software Development Life Cycle</vt:lpstr>
      <vt:lpstr>WATERFALL APPROACH</vt:lpstr>
      <vt:lpstr>Agile Approach</vt:lpstr>
      <vt:lpstr>Waterfall vs Agile</vt:lpstr>
      <vt:lpstr>Why Agile Was Better</vt:lpstr>
      <vt:lpstr>Final Decision</vt:lpstr>
      <vt:lpstr>References (APA 7th Edition)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86</cp:revision>
  <dcterms:created xsi:type="dcterms:W3CDTF">2013-01-27T09:14:16Z</dcterms:created>
  <dcterms:modified xsi:type="dcterms:W3CDTF">2026-04-19T18:06:11Z</dcterms:modified>
  <cp:category/>
</cp:coreProperties>
</file>